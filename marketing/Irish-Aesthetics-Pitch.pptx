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B24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F47F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137160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C9A46C"/>
                </a:solidFill>
                <a:latin typeface="Jost"/>
              </a:rPr>
              <a:t>CLINIC OPERATIONS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874519"/>
            <a:ext cx="96012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4400" b="0">
                <a:solidFill>
                  <a:srgbClr val="FFFDFC"/>
                </a:solidFill>
                <a:latin typeface="Bodoni Moda"/>
              </a:rPr>
              <a:t>One system from first visit to final entry in the books.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4069080"/>
            <a:ext cx="1371600" cy="31750"/>
          </a:xfrm>
          <a:prstGeom prst="rect">
            <a:avLst/>
          </a:prstGeom>
          <a:solidFill>
            <a:srgbClr val="F47F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4434840"/>
            <a:ext cx="8686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8000"/>
              </a:lnSpc>
            </a:pPr>
            <a:r>
              <a:rPr sz="1600" b="0">
                <a:solidFill>
                  <a:srgbClr val="D9C7CE"/>
                </a:solidFill>
                <a:latin typeface="Jost"/>
              </a:rPr>
              <a:t>Website, bookings, CRM, till, stock, staff, payroll and accounting for a Philippine aesthetic clinic. Running on your own data, with your own brand.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598932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FFFDFC"/>
                </a:solidFill>
                <a:latin typeface="Jost"/>
              </a:rPr>
              <a:t>Irish Aesthetics and Beauty Lounge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630936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B09CA5"/>
                </a:solidFill>
                <a:latin typeface="Jost"/>
              </a:rPr>
              <a:t>MAKATI  ·  BGC  ·  CEBU</a:t>
            </a:r>
          </a:p>
        </p:txBody>
      </p:sp>
      <p:pic>
        <p:nvPicPr>
          <p:cNvPr id="9" name="Picture 8" descr="recursivefrog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44735" y="1298448"/>
            <a:ext cx="469720" cy="38404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9161655" y="1359895"/>
            <a:ext cx="1600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C8B6BF"/>
                </a:solidFill>
                <a:latin typeface="Jost"/>
              </a:rPr>
              <a:t>BUILT BY RECURSIVE FROG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D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" y="635508"/>
            <a:ext cx="256032" cy="31750"/>
          </a:xfrm>
          <a:prstGeom prst="rect">
            <a:avLst/>
          </a:prstGeom>
          <a:solidFill>
            <a:srgbClr val="C9A4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61288" y="56692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>
                <a:solidFill>
                  <a:srgbClr val="D9577F"/>
                </a:solidFill>
                <a:latin typeface="Jost"/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133856"/>
            <a:ext cx="1063721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0">
                <a:solidFill>
                  <a:srgbClr val="3B2430"/>
                </a:solidFill>
                <a:latin typeface="Bodoni Moda"/>
              </a:rPr>
              <a:t>You already have the data. It is just in seven places.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2148840"/>
            <a:ext cx="3456432" cy="1481328"/>
          </a:xfrm>
          <a:prstGeom prst="rect">
            <a:avLst/>
          </a:prstGeom>
          <a:solidFill>
            <a:srgbClr val="FFFFFF"/>
          </a:solidFill>
          <a:ln w="12700">
            <a:solidFill>
              <a:srgbClr val="E6DB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2148840"/>
            <a:ext cx="38100" cy="1481328"/>
          </a:xfrm>
          <a:prstGeom prst="rect">
            <a:avLst/>
          </a:prstGeom>
          <a:solidFill>
            <a:srgbClr val="F47F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" y="2368296"/>
            <a:ext cx="299923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3B2430"/>
                </a:solidFill>
                <a:latin typeface="Jost"/>
              </a:rPr>
              <a:t>Enquiries in a personal inbox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272" y="2807208"/>
            <a:ext cx="2999232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6000"/>
              </a:lnSpc>
            </a:pPr>
            <a:r>
              <a:rPr sz="1150" b="0">
                <a:solidFill>
                  <a:srgbClr val="51454A"/>
                </a:solidFill>
                <a:latin typeface="Jost"/>
              </a:rPr>
              <a:t>You follow up from memory. The ones you forget were the ones ready to book.</a:t>
            </a:r>
          </a:p>
        </p:txBody>
      </p:sp>
      <p:sp>
        <p:nvSpPr>
          <p:cNvPr id="9" name="Rectangle 8"/>
          <p:cNvSpPr/>
          <p:nvPr/>
        </p:nvSpPr>
        <p:spPr>
          <a:xfrm>
            <a:off x="4407408" y="2148840"/>
            <a:ext cx="3456432" cy="1481328"/>
          </a:xfrm>
          <a:prstGeom prst="rect">
            <a:avLst/>
          </a:prstGeom>
          <a:solidFill>
            <a:srgbClr val="FFFFFF"/>
          </a:solidFill>
          <a:ln w="12700">
            <a:solidFill>
              <a:srgbClr val="E6DB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07408" y="2148840"/>
            <a:ext cx="38100" cy="1481328"/>
          </a:xfrm>
          <a:prstGeom prst="rect">
            <a:avLst/>
          </a:prstGeom>
          <a:solidFill>
            <a:srgbClr val="F47F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63440" y="2368296"/>
            <a:ext cx="299923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3B2430"/>
                </a:solidFill>
                <a:latin typeface="Jost"/>
              </a:rPr>
              <a:t>A paper diary for the chair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2807208"/>
            <a:ext cx="2999232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6000"/>
              </a:lnSpc>
            </a:pPr>
            <a:r>
              <a:rPr sz="1150" b="0">
                <a:solidFill>
                  <a:srgbClr val="51454A"/>
                </a:solidFill>
                <a:latin typeface="Jost"/>
              </a:rPr>
              <a:t>A no-show is a hole in the day you cannot see until it is gone.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37576" y="2148840"/>
            <a:ext cx="3456432" cy="1481328"/>
          </a:xfrm>
          <a:prstGeom prst="rect">
            <a:avLst/>
          </a:prstGeom>
          <a:solidFill>
            <a:srgbClr val="FFFFFF"/>
          </a:solidFill>
          <a:ln w="12700">
            <a:solidFill>
              <a:srgbClr val="E6DB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37576" y="2148840"/>
            <a:ext cx="38100" cy="1481328"/>
          </a:xfrm>
          <a:prstGeom prst="rect">
            <a:avLst/>
          </a:prstGeom>
          <a:solidFill>
            <a:srgbClr val="F47F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93608" y="2368296"/>
            <a:ext cx="299923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3B2430"/>
                </a:solidFill>
                <a:latin typeface="Jost"/>
              </a:rPr>
              <a:t>Takings counted at closing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93608" y="2807208"/>
            <a:ext cx="2999232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6000"/>
              </a:lnSpc>
            </a:pPr>
            <a:r>
              <a:rPr sz="1150" b="0">
                <a:solidFill>
                  <a:srgbClr val="51454A"/>
                </a:solidFill>
                <a:latin typeface="Jost"/>
              </a:rPr>
              <a:t>You learn how the month went days after you can act on it.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831336"/>
            <a:ext cx="3456432" cy="1481328"/>
          </a:xfrm>
          <a:prstGeom prst="rect">
            <a:avLst/>
          </a:prstGeom>
          <a:solidFill>
            <a:srgbClr val="FFFFFF"/>
          </a:solidFill>
          <a:ln w="12700">
            <a:solidFill>
              <a:srgbClr val="E6DB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831336"/>
            <a:ext cx="38100" cy="1481328"/>
          </a:xfrm>
          <a:prstGeom prst="rect">
            <a:avLst/>
          </a:prstGeom>
          <a:solidFill>
            <a:srgbClr val="F47F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33272" y="4050792"/>
            <a:ext cx="299923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3B2430"/>
                </a:solidFill>
                <a:latin typeface="Jost"/>
              </a:rPr>
              <a:t>Stock that is a guess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33272" y="4489704"/>
            <a:ext cx="2999232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6000"/>
              </a:lnSpc>
            </a:pPr>
            <a:r>
              <a:rPr sz="1150" b="0">
                <a:solidFill>
                  <a:srgbClr val="51454A"/>
                </a:solidFill>
                <a:latin typeface="Jost"/>
              </a:rPr>
              <a:t>You find the expiry when you reach for the bottle, if you reach at all.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407408" y="3831336"/>
            <a:ext cx="3456432" cy="1481328"/>
          </a:xfrm>
          <a:prstGeom prst="rect">
            <a:avLst/>
          </a:prstGeom>
          <a:solidFill>
            <a:srgbClr val="FFFFFF"/>
          </a:solidFill>
          <a:ln w="12700">
            <a:solidFill>
              <a:srgbClr val="E6DB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407408" y="3831336"/>
            <a:ext cx="38100" cy="1481328"/>
          </a:xfrm>
          <a:prstGeom prst="rect">
            <a:avLst/>
          </a:prstGeom>
          <a:solidFill>
            <a:srgbClr val="F47F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663440" y="4050792"/>
            <a:ext cx="299923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3B2430"/>
                </a:solidFill>
                <a:latin typeface="Jost"/>
              </a:rPr>
              <a:t>Payroll in a spreadsheet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63440" y="4489704"/>
            <a:ext cx="2999232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6000"/>
              </a:lnSpc>
            </a:pPr>
            <a:r>
              <a:rPr sz="1150" b="0">
                <a:solidFill>
                  <a:srgbClr val="51454A"/>
                </a:solidFill>
                <a:latin typeface="Jost"/>
              </a:rPr>
              <a:t>Every rate, deduction and adjustment retyped by hand, every run.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037576" y="3831336"/>
            <a:ext cx="3456432" cy="1481328"/>
          </a:xfrm>
          <a:prstGeom prst="rect">
            <a:avLst/>
          </a:prstGeom>
          <a:solidFill>
            <a:srgbClr val="FFFFFF"/>
          </a:solidFill>
          <a:ln w="12700">
            <a:solidFill>
              <a:srgbClr val="E6DB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037576" y="3831336"/>
            <a:ext cx="38100" cy="1481328"/>
          </a:xfrm>
          <a:prstGeom prst="rect">
            <a:avLst/>
          </a:prstGeom>
          <a:solidFill>
            <a:srgbClr val="F47F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93608" y="4050792"/>
            <a:ext cx="299923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3B2430"/>
                </a:solidFill>
                <a:latin typeface="Jost"/>
              </a:rPr>
              <a:t>Books reconciled at year end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93608" y="4489704"/>
            <a:ext cx="2999232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6000"/>
              </a:lnSpc>
            </a:pPr>
            <a:r>
              <a:rPr sz="1150" b="0">
                <a:solidFill>
                  <a:srgbClr val="51454A"/>
                </a:solidFill>
                <a:latin typeface="Jost"/>
              </a:rPr>
              <a:t>The month closes only when the numbers happen to agree.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" y="562356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>
                <a:solidFill>
                  <a:srgbClr val="3B2430"/>
                </a:solidFill>
                <a:latin typeface="Jost"/>
              </a:rPr>
              <a:t>None of this is your staff's fault. </a:t>
            </a:r>
            <a:r>
              <a:rPr sz="1400" b="0">
                <a:solidFill>
                  <a:srgbClr val="51454A"/>
                </a:solidFill>
                <a:latin typeface="Jost"/>
              </a:rPr>
              <a:t>It is what happens when a clinic runs on six tools that were never designed to agree with each other.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77240" y="6144768"/>
            <a:ext cx="10637215" cy="9525"/>
          </a:xfrm>
          <a:prstGeom prst="rect">
            <a:avLst/>
          </a:prstGeom>
          <a:solidFill>
            <a:srgbClr val="FCE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77240" y="629107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8A7B81"/>
                </a:solidFill>
                <a:latin typeface="Jost"/>
              </a:rPr>
              <a:t>IRISH AESTHETICS AND BEAUTY LOUNGE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71255" y="6291072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8A7B81"/>
                </a:solidFill>
                <a:latin typeface="Jost"/>
              </a:rPr>
              <a:t>irish.deskpulse.click</a:t>
            </a:r>
          </a:p>
        </p:txBody>
      </p:sp>
      <p:pic>
        <p:nvPicPr>
          <p:cNvPr id="33" name="Picture 32" descr="frog-fai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9543" y="6281928"/>
            <a:ext cx="290779" cy="23774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D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" y="635508"/>
            <a:ext cx="256032" cy="31750"/>
          </a:xfrm>
          <a:prstGeom prst="rect">
            <a:avLst/>
          </a:prstGeom>
          <a:solidFill>
            <a:srgbClr val="C9A4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61288" y="56692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>
                <a:solidFill>
                  <a:srgbClr val="D9577F"/>
                </a:solidFill>
                <a:latin typeface="Jost"/>
              </a:rPr>
              <a:t>HOW IT FITS TOGETHER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133856"/>
            <a:ext cx="1063721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0">
                <a:solidFill>
                  <a:srgbClr val="3B2430"/>
                </a:solidFill>
                <a:latin typeface="Bodoni Moda"/>
              </a:rPr>
              <a:t>One patient, one record, every step.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2286000"/>
            <a:ext cx="1389888" cy="2377440"/>
          </a:xfrm>
          <a:prstGeom prst="rect">
            <a:avLst/>
          </a:prstGeom>
          <a:solidFill>
            <a:srgbClr val="3B24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487168"/>
            <a:ext cx="13898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C9A46C"/>
                </a:solidFill>
                <a:latin typeface="Jost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6968" y="2852928"/>
            <a:ext cx="117043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300" b="1">
                <a:solidFill>
                  <a:srgbClr val="FFFDFC"/>
                </a:solidFill>
                <a:latin typeface="Jost"/>
              </a:rPr>
              <a:t>She finds you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3456432"/>
            <a:ext cx="1170432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2000"/>
              </a:lnSpc>
            </a:pPr>
            <a:r>
              <a:rPr sz="950" b="0">
                <a:solidFill>
                  <a:srgbClr val="C0AFB7"/>
                </a:solidFill>
                <a:latin typeface="Jost"/>
              </a:rPr>
              <a:t>A page that sells the treatment, the price and the branch.</a:t>
            </a:r>
          </a:p>
        </p:txBody>
      </p:sp>
      <p:sp>
        <p:nvSpPr>
          <p:cNvPr id="9" name="Rectangle 8"/>
          <p:cNvSpPr/>
          <p:nvPr/>
        </p:nvSpPr>
        <p:spPr>
          <a:xfrm>
            <a:off x="2276856" y="2286000"/>
            <a:ext cx="1389888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6DB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276856" y="2487168"/>
            <a:ext cx="13898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C9A46C"/>
                </a:solidFill>
                <a:latin typeface="Jost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86584" y="2852928"/>
            <a:ext cx="117043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300" b="1">
                <a:solidFill>
                  <a:srgbClr val="3B2430"/>
                </a:solidFill>
                <a:latin typeface="Jost"/>
              </a:rPr>
              <a:t>She books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86584" y="3456432"/>
            <a:ext cx="1170432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2000"/>
              </a:lnSpc>
            </a:pPr>
            <a:r>
              <a:rPr sz="950" b="0">
                <a:solidFill>
                  <a:srgbClr val="51454A"/>
                </a:solidFill>
                <a:latin typeface="Jost"/>
              </a:rPr>
              <a:t>A real slot, held for her, confirmed without a phone call.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776472" y="2286000"/>
            <a:ext cx="1389888" cy="2377440"/>
          </a:xfrm>
          <a:prstGeom prst="rect">
            <a:avLst/>
          </a:prstGeom>
          <a:solidFill>
            <a:srgbClr val="3B24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776472" y="2487168"/>
            <a:ext cx="13898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C9A46C"/>
                </a:solidFill>
                <a:latin typeface="Jost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86200" y="2852928"/>
            <a:ext cx="117043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300" b="1">
                <a:solidFill>
                  <a:srgbClr val="FFFDFC"/>
                </a:solidFill>
                <a:latin typeface="Jost"/>
              </a:rPr>
              <a:t>She arrives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86200" y="3456432"/>
            <a:ext cx="1170432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2000"/>
              </a:lnSpc>
            </a:pPr>
            <a:r>
              <a:rPr sz="950" b="0">
                <a:solidFill>
                  <a:srgbClr val="C0AFB7"/>
                </a:solidFill>
                <a:latin typeface="Jost"/>
              </a:rPr>
              <a:t>Front desk sees the booking, the treatment and the notes.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276088" y="2286000"/>
            <a:ext cx="1389888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6DB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276088" y="2487168"/>
            <a:ext cx="13898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C9A46C"/>
                </a:solidFill>
                <a:latin typeface="Jost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85816" y="2852928"/>
            <a:ext cx="117043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300" b="1">
                <a:solidFill>
                  <a:srgbClr val="3B2430"/>
                </a:solidFill>
                <a:latin typeface="Jost"/>
              </a:rPr>
              <a:t>She pays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85816" y="3456432"/>
            <a:ext cx="1170432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2000"/>
              </a:lnSpc>
            </a:pPr>
            <a:r>
              <a:rPr sz="950" b="0">
                <a:solidFill>
                  <a:srgbClr val="51454A"/>
                </a:solidFill>
                <a:latin typeface="Jost"/>
              </a:rPr>
              <a:t>Cash, card, GCash or Maya, receipted at the counter.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775704" y="2286000"/>
            <a:ext cx="1389888" cy="2377440"/>
          </a:xfrm>
          <a:prstGeom prst="rect">
            <a:avLst/>
          </a:prstGeom>
          <a:solidFill>
            <a:srgbClr val="3B24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775704" y="2487168"/>
            <a:ext cx="13898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C9A46C"/>
                </a:solidFill>
                <a:latin typeface="Jost"/>
              </a:rPr>
              <a:t>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85432" y="2852928"/>
            <a:ext cx="117043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300" b="1">
                <a:solidFill>
                  <a:srgbClr val="FFFDFC"/>
                </a:solidFill>
                <a:latin typeface="Jost"/>
              </a:rPr>
              <a:t>Stock moves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85432" y="3456432"/>
            <a:ext cx="1170432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2000"/>
              </a:lnSpc>
            </a:pPr>
            <a:r>
              <a:rPr sz="950" b="0">
                <a:solidFill>
                  <a:srgbClr val="C0AFB7"/>
                </a:solidFill>
                <a:latin typeface="Jost"/>
              </a:rPr>
              <a:t>The bottle is drawn down and costed to that sale.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275320" y="2286000"/>
            <a:ext cx="1389888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6DB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75320" y="2487168"/>
            <a:ext cx="13898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C9A46C"/>
                </a:solidFill>
                <a:latin typeface="Jost"/>
              </a:rPr>
              <a:t>06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85048" y="2852928"/>
            <a:ext cx="117043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300" b="1">
                <a:solidFill>
                  <a:srgbClr val="3B2430"/>
                </a:solidFill>
                <a:latin typeface="Jost"/>
              </a:rPr>
              <a:t>Books balance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85048" y="3456432"/>
            <a:ext cx="1170432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2000"/>
              </a:lnSpc>
            </a:pPr>
            <a:r>
              <a:rPr sz="950" b="0">
                <a:solidFill>
                  <a:srgbClr val="51454A"/>
                </a:solidFill>
                <a:latin typeface="Jost"/>
              </a:rPr>
              <a:t>Revenue, cost and cash land in the ledger automatically.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774936" y="2286000"/>
            <a:ext cx="1389888" cy="2377440"/>
          </a:xfrm>
          <a:prstGeom prst="rect">
            <a:avLst/>
          </a:prstGeom>
          <a:solidFill>
            <a:srgbClr val="3B24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774936" y="2487168"/>
            <a:ext cx="13898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C9A46C"/>
                </a:solidFill>
                <a:latin typeface="Jost"/>
              </a:rPr>
              <a:t>07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884664" y="2852928"/>
            <a:ext cx="117043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300" b="1">
                <a:solidFill>
                  <a:srgbClr val="FFFDFC"/>
                </a:solidFill>
                <a:latin typeface="Jost"/>
              </a:rPr>
              <a:t>She comes back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884664" y="3456432"/>
            <a:ext cx="1170432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2000"/>
              </a:lnSpc>
            </a:pPr>
            <a:r>
              <a:rPr sz="950" b="0">
                <a:solidFill>
                  <a:srgbClr val="C0AFB7"/>
                </a:solidFill>
                <a:latin typeface="Jost"/>
              </a:rPr>
              <a:t>The history is there, so the next visit needs no re-explaining.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77240" y="5074920"/>
            <a:ext cx="10637215" cy="914400"/>
          </a:xfrm>
          <a:prstGeom prst="rect">
            <a:avLst/>
          </a:prstGeom>
          <a:solidFill>
            <a:srgbClr val="FF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143000" y="5285232"/>
            <a:ext cx="10241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1">
                <a:solidFill>
                  <a:srgbClr val="3B2430"/>
                </a:solidFill>
                <a:latin typeface="Jost"/>
              </a:rPr>
              <a:t>The point is not seven features. </a:t>
            </a:r>
            <a:r>
              <a:rPr sz="1350" b="0">
                <a:solidFill>
                  <a:srgbClr val="51454A"/>
                </a:solidFill>
                <a:latin typeface="Jost"/>
              </a:rPr>
              <a:t>It is that step seven is only possible because steps one to six already happened in the same system. Most clinic software stops at step four.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77240" y="6144768"/>
            <a:ext cx="10637215" cy="9525"/>
          </a:xfrm>
          <a:prstGeom prst="rect">
            <a:avLst/>
          </a:prstGeom>
          <a:solidFill>
            <a:srgbClr val="FCE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77240" y="629107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8A7B81"/>
                </a:solidFill>
                <a:latin typeface="Jost"/>
              </a:rPr>
              <a:t>IRISH AESTHETICS AND BEAUTY LOUNGE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671255" y="6291072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8A7B81"/>
                </a:solidFill>
                <a:latin typeface="Jost"/>
              </a:rPr>
              <a:t>irish.deskpulse.click</a:t>
            </a:r>
          </a:p>
        </p:txBody>
      </p:sp>
      <p:pic>
        <p:nvPicPr>
          <p:cNvPr id="38" name="Picture 37" descr="frog-fai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9543" y="6281928"/>
            <a:ext cx="290779" cy="23774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D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" y="635508"/>
            <a:ext cx="256032" cy="31750"/>
          </a:xfrm>
          <a:prstGeom prst="rect">
            <a:avLst/>
          </a:prstGeom>
          <a:solidFill>
            <a:srgbClr val="C9A4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61288" y="56692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>
                <a:solidFill>
                  <a:srgbClr val="D9577F"/>
                </a:solidFill>
                <a:latin typeface="Jost"/>
              </a:rPr>
              <a:t>DEMAND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133856"/>
            <a:ext cx="1063721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0">
                <a:solidFill>
                  <a:srgbClr val="3B2430"/>
                </a:solidFill>
                <a:latin typeface="Bodoni Moda"/>
              </a:rPr>
              <a:t>A site that works while you sleep.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737360"/>
            <a:ext cx="4114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51454A"/>
                </a:solidFill>
                <a:latin typeface="Jost"/>
              </a:rPr>
              <a:t>It is the only part of the system a patient sees, so it does the one job that matters: get the booking.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2592324"/>
            <a:ext cx="63500" cy="63500"/>
          </a:xfrm>
          <a:prstGeom prst="rect">
            <a:avLst/>
          </a:prstGeom>
          <a:solidFill>
            <a:srgbClr val="F47F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" y="2514600"/>
            <a:ext cx="3950208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300" b="0">
                <a:solidFill>
                  <a:srgbClr val="51454A"/>
                </a:solidFill>
                <a:latin typeface="Jost"/>
              </a:rPr>
              <a:t>Treatments, prices, doctors and branches live in the database, so you edit them without a developer.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3305556"/>
            <a:ext cx="63500" cy="63500"/>
          </a:xfrm>
          <a:prstGeom prst="rect">
            <a:avLst/>
          </a:prstGeom>
          <a:solidFill>
            <a:srgbClr val="F47F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33272" y="3227832"/>
            <a:ext cx="3950208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300" b="0">
                <a:solidFill>
                  <a:srgbClr val="51454A"/>
                </a:solidFill>
                <a:latin typeface="Jost"/>
              </a:rPr>
              <a:t>Live availability, so she books the slot she wants rather than the one you confirm by phone later.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4018788"/>
            <a:ext cx="63500" cy="63500"/>
          </a:xfrm>
          <a:prstGeom prst="rect">
            <a:avLst/>
          </a:prstGeom>
          <a:solidFill>
            <a:srgbClr val="F47F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33272" y="3941064"/>
            <a:ext cx="3950208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300" b="0">
                <a:solidFill>
                  <a:srgbClr val="51454A"/>
                </a:solidFill>
                <a:latin typeface="Jost"/>
              </a:rPr>
              <a:t>Every enquiry becomes a tracked lead with its source attached, including the campaign that sent it.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4732020"/>
            <a:ext cx="63500" cy="63500"/>
          </a:xfrm>
          <a:prstGeom prst="rect">
            <a:avLst/>
          </a:prstGeom>
          <a:solidFill>
            <a:srgbClr val="F47F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33272" y="4654296"/>
            <a:ext cx="3950208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300" b="0">
                <a:solidFill>
                  <a:srgbClr val="51454A"/>
                </a:solidFill>
                <a:latin typeface="Jost"/>
              </a:rPr>
              <a:t>Built to be found: local search markup, a sitemap, and pages that load fast on a phone.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501640" y="2304899"/>
            <a:ext cx="5958840" cy="2888281"/>
          </a:xfrm>
          <a:prstGeom prst="rect">
            <a:avLst/>
          </a:prstGeom>
          <a:solidFill>
            <a:srgbClr val="FFFFFF"/>
          </a:solidFill>
          <a:ln w="12700">
            <a:solidFill>
              <a:srgbClr val="E6DB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01-public-ho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7840" y="2381099"/>
            <a:ext cx="5806440" cy="2735881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>
          <a:xfrm>
            <a:off x="777240" y="6144768"/>
            <a:ext cx="10637215" cy="9525"/>
          </a:xfrm>
          <a:prstGeom prst="rect">
            <a:avLst/>
          </a:prstGeom>
          <a:solidFill>
            <a:srgbClr val="FCE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629107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8A7B81"/>
                </a:solidFill>
                <a:latin typeface="Jost"/>
              </a:rPr>
              <a:t>IRISH AESTHETICS AND BEAUTY LOUNGE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71255" y="6291072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8A7B81"/>
                </a:solidFill>
                <a:latin typeface="Jost"/>
              </a:rPr>
              <a:t>irish.deskpulse.click</a:t>
            </a:r>
          </a:p>
        </p:txBody>
      </p:sp>
      <p:pic>
        <p:nvPicPr>
          <p:cNvPr id="19" name="Picture 18" descr="frog-fai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9543" y="6281928"/>
            <a:ext cx="290779" cy="23774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D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" y="635508"/>
            <a:ext cx="256032" cy="31750"/>
          </a:xfrm>
          <a:prstGeom prst="rect">
            <a:avLst/>
          </a:prstGeom>
          <a:solidFill>
            <a:srgbClr val="C9A4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61288" y="56692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>
                <a:solidFill>
                  <a:srgbClr val="D9577F"/>
                </a:solidFill>
                <a:latin typeface="Jost"/>
              </a:rPr>
              <a:t>BOOKINGS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133856"/>
            <a:ext cx="1063721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0">
                <a:solidFill>
                  <a:srgbClr val="3B2430"/>
                </a:solidFill>
                <a:latin typeface="Bodoni Moda"/>
              </a:rPr>
              <a:t>No phone tag. No double-booked chair.</a:t>
            </a:r>
          </a:p>
        </p:txBody>
      </p:sp>
      <p:sp>
        <p:nvSpPr>
          <p:cNvPr id="5" name="Rectangle 4"/>
          <p:cNvSpPr/>
          <p:nvPr/>
        </p:nvSpPr>
        <p:spPr>
          <a:xfrm>
            <a:off x="887639" y="1889760"/>
            <a:ext cx="4625522" cy="3398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6DB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04-public-book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3839" y="1965960"/>
            <a:ext cx="4473122" cy="324612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260408" y="1889760"/>
            <a:ext cx="1652384" cy="3398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6DB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11-public-home-mobi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6608" y="1965960"/>
            <a:ext cx="1499984" cy="324612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8641080" y="2226564"/>
            <a:ext cx="63500" cy="63500"/>
          </a:xfrm>
          <a:prstGeom prst="rect">
            <a:avLst/>
          </a:prstGeom>
          <a:solidFill>
            <a:srgbClr val="F47F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97112" y="2148840"/>
            <a:ext cx="2487168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00" b="0">
                <a:solidFill>
                  <a:srgbClr val="51454A"/>
                </a:solidFill>
                <a:latin typeface="Jost"/>
              </a:rPr>
              <a:t>Slots shown are genuinely free, per doctor and per branch.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641080" y="2958084"/>
            <a:ext cx="63500" cy="63500"/>
          </a:xfrm>
          <a:prstGeom prst="rect">
            <a:avLst/>
          </a:prstGeom>
          <a:solidFill>
            <a:srgbClr val="F47F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897112" y="2880360"/>
            <a:ext cx="2487168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00" b="0">
                <a:solidFill>
                  <a:srgbClr val="51454A"/>
                </a:solidFill>
                <a:latin typeface="Jost"/>
              </a:rPr>
              <a:t>Two staff cannot take the same chair at once.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641080" y="3689604"/>
            <a:ext cx="63500" cy="63500"/>
          </a:xfrm>
          <a:prstGeom prst="rect">
            <a:avLst/>
          </a:prstGeom>
          <a:solidFill>
            <a:srgbClr val="F47F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97112" y="3611880"/>
            <a:ext cx="2487168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00" b="0">
                <a:solidFill>
                  <a:srgbClr val="51454A"/>
                </a:solidFill>
                <a:latin typeface="Jost"/>
              </a:rPr>
              <a:t>Booked as a guest. No account to create before she can book.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641080" y="4421124"/>
            <a:ext cx="63500" cy="63500"/>
          </a:xfrm>
          <a:prstGeom prst="rect">
            <a:avLst/>
          </a:prstGeom>
          <a:solidFill>
            <a:srgbClr val="F47F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97112" y="4343400"/>
            <a:ext cx="2487168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00" b="0">
                <a:solidFill>
                  <a:srgbClr val="51454A"/>
                </a:solidFill>
                <a:latin typeface="Jost"/>
              </a:rPr>
              <a:t>Confirmation is a signed link she can reopen on her phone.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5440680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1">
                <a:solidFill>
                  <a:srgbClr val="3B2430"/>
                </a:solidFill>
                <a:latin typeface="Jost"/>
              </a:rPr>
              <a:t>Most of your no-shows are not rudeness. </a:t>
            </a:r>
            <a:r>
              <a:rPr sz="1350" b="0">
                <a:solidFill>
                  <a:srgbClr val="51454A"/>
                </a:solidFill>
                <a:latin typeface="Jost"/>
              </a:rPr>
              <a:t>They are a booking made in a hurry that nobody wrote down.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7240" y="6144768"/>
            <a:ext cx="10637215" cy="9525"/>
          </a:xfrm>
          <a:prstGeom prst="rect">
            <a:avLst/>
          </a:prstGeom>
          <a:solidFill>
            <a:srgbClr val="FCE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629107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8A7B81"/>
                </a:solidFill>
                <a:latin typeface="Jost"/>
              </a:rPr>
              <a:t>IRISH AESTHETICS AND BEAUTY LOUNGE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71255" y="6291072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8A7B81"/>
                </a:solidFill>
                <a:latin typeface="Jost"/>
              </a:rPr>
              <a:t>irish.deskpulse.click</a:t>
            </a:r>
          </a:p>
        </p:txBody>
      </p:sp>
      <p:pic>
        <p:nvPicPr>
          <p:cNvPr id="21" name="Picture 20" descr="frog-fai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9543" y="6281928"/>
            <a:ext cx="290779" cy="23774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D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" y="635508"/>
            <a:ext cx="256032" cy="31750"/>
          </a:xfrm>
          <a:prstGeom prst="rect">
            <a:avLst/>
          </a:prstGeom>
          <a:solidFill>
            <a:srgbClr val="C9A4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61288" y="56692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>
                <a:solidFill>
                  <a:srgbClr val="D9577F"/>
                </a:solidFill>
                <a:latin typeface="Jost"/>
              </a:rPr>
              <a:t>FRONT DESK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133856"/>
            <a:ext cx="1063721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0">
                <a:solidFill>
                  <a:srgbClr val="3B2430"/>
                </a:solidFill>
                <a:latin typeface="Bodoni Moda"/>
              </a:rPr>
              <a:t>Nobody has to remember to call back.</a:t>
            </a:r>
          </a:p>
        </p:txBody>
      </p:sp>
      <p:sp>
        <p:nvSpPr>
          <p:cNvPr id="5" name="Rectangle 4"/>
          <p:cNvSpPr/>
          <p:nvPr/>
        </p:nvSpPr>
        <p:spPr>
          <a:xfrm>
            <a:off x="701040" y="1975485"/>
            <a:ext cx="5364480" cy="340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E6DB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22b-admin-lead-detai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2051685"/>
            <a:ext cx="5212080" cy="32575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355080" y="2057400"/>
            <a:ext cx="49377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51454A"/>
                </a:solidFill>
                <a:latin typeface="Jost"/>
              </a:rPr>
              <a:t>One person, one page: where she came from, what she asked about, what she booked, and who said what.</a:t>
            </a:r>
          </a:p>
        </p:txBody>
      </p:sp>
      <p:sp>
        <p:nvSpPr>
          <p:cNvPr id="8" name="Rectangle 7"/>
          <p:cNvSpPr/>
          <p:nvPr/>
        </p:nvSpPr>
        <p:spPr>
          <a:xfrm>
            <a:off x="6355080" y="2912364"/>
            <a:ext cx="63500" cy="63500"/>
          </a:xfrm>
          <a:prstGeom prst="rect">
            <a:avLst/>
          </a:prstGeom>
          <a:solidFill>
            <a:srgbClr val="F47F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11112" y="2834640"/>
            <a:ext cx="4681728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300" b="0">
                <a:solidFill>
                  <a:srgbClr val="51454A"/>
                </a:solidFill>
                <a:latin typeface="Jost"/>
              </a:rPr>
              <a:t>A nine-stage pipeline, so a lead is never just a name in a list.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5080" y="3570732"/>
            <a:ext cx="63500" cy="63500"/>
          </a:xfrm>
          <a:prstGeom prst="rect">
            <a:avLst/>
          </a:prstGeom>
          <a:solidFill>
            <a:srgbClr val="F47F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11112" y="3493008"/>
            <a:ext cx="4681728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300" b="0">
                <a:solidFill>
                  <a:srgbClr val="51454A"/>
                </a:solidFill>
                <a:latin typeface="Jost"/>
              </a:rPr>
              <a:t>Every call and note is written down with the staff member who did it.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55080" y="4229100"/>
            <a:ext cx="63500" cy="63500"/>
          </a:xfrm>
          <a:prstGeom prst="rect">
            <a:avLst/>
          </a:prstGeom>
          <a:solidFill>
            <a:srgbClr val="F47F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11112" y="4151376"/>
            <a:ext cx="4681728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300" b="0">
                <a:solidFill>
                  <a:srgbClr val="51454A"/>
                </a:solidFill>
                <a:latin typeface="Jost"/>
              </a:rPr>
              <a:t>Appointments and history sit on the same record as the enquiry.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55080" y="4887468"/>
            <a:ext cx="63500" cy="63500"/>
          </a:xfrm>
          <a:prstGeom prst="rect">
            <a:avLst/>
          </a:prstGeom>
          <a:solidFill>
            <a:srgbClr val="F47F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11112" y="4809744"/>
            <a:ext cx="4681728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300" b="0">
                <a:solidFill>
                  <a:srgbClr val="51454A"/>
                </a:solidFill>
                <a:latin typeface="Jost"/>
              </a:rPr>
              <a:t>Know at a glance who is overdue for a follow-up.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5669280"/>
            <a:ext cx="4937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>
                <a:solidFill>
                  <a:srgbClr val="D9577F"/>
                </a:solidFill>
                <a:latin typeface="Jost"/>
              </a:rPr>
              <a:t>Demo data shown. </a:t>
            </a:r>
            <a:r>
              <a:rPr sz="1050" b="0">
                <a:solidFill>
                  <a:srgbClr val="8A7B81"/>
                </a:solidFill>
                <a:latin typeface="Jost"/>
              </a:rPr>
              <a:t>Names and conversations are fictional.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6144768"/>
            <a:ext cx="10637215" cy="9525"/>
          </a:xfrm>
          <a:prstGeom prst="rect">
            <a:avLst/>
          </a:prstGeom>
          <a:solidFill>
            <a:srgbClr val="FCE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629107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8A7B81"/>
                </a:solidFill>
                <a:latin typeface="Jost"/>
              </a:rPr>
              <a:t>IRISH AESTHETICS AND BEAUTY LOUNGE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71255" y="6291072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8A7B81"/>
                </a:solidFill>
                <a:latin typeface="Jost"/>
              </a:rPr>
              <a:t>irish.deskpulse.click</a:t>
            </a:r>
          </a:p>
        </p:txBody>
      </p:sp>
      <p:pic>
        <p:nvPicPr>
          <p:cNvPr id="20" name="Picture 19" descr="frog-fai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9543" y="6281928"/>
            <a:ext cx="290779" cy="23774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D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" y="635508"/>
            <a:ext cx="256032" cy="31750"/>
          </a:xfrm>
          <a:prstGeom prst="rect">
            <a:avLst/>
          </a:prstGeom>
          <a:solidFill>
            <a:srgbClr val="C9A4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61288" y="56692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>
                <a:solidFill>
                  <a:srgbClr val="D9577F"/>
                </a:solidFill>
                <a:latin typeface="Jost"/>
              </a:rPr>
              <a:t>THE DAY AT A GLANCE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133856"/>
            <a:ext cx="1063721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0">
                <a:solidFill>
                  <a:srgbClr val="3B2430"/>
                </a:solidFill>
                <a:latin typeface="Bodoni Moda"/>
              </a:rPr>
              <a:t>Open the screen and know where the day stands.</a:t>
            </a:r>
          </a:p>
        </p:txBody>
      </p:sp>
      <p:sp>
        <p:nvSpPr>
          <p:cNvPr id="5" name="Rectangle 4"/>
          <p:cNvSpPr/>
          <p:nvPr/>
        </p:nvSpPr>
        <p:spPr>
          <a:xfrm>
            <a:off x="788836" y="1889760"/>
            <a:ext cx="4000167" cy="3672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6DB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20-admin-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5036" y="1965960"/>
            <a:ext cx="3847767" cy="35204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120640" y="2057400"/>
            <a:ext cx="61264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51454A"/>
                </a:solidFill>
                <a:latin typeface="Jost"/>
              </a:rPr>
              <a:t>Revenue, gross profit, average sale, how people paid and what is best selling, against the same stretch last period.</a:t>
            </a:r>
          </a:p>
        </p:txBody>
      </p:sp>
      <p:sp>
        <p:nvSpPr>
          <p:cNvPr id="8" name="Rectangle 7"/>
          <p:cNvSpPr/>
          <p:nvPr/>
        </p:nvSpPr>
        <p:spPr>
          <a:xfrm>
            <a:off x="5120640" y="2866644"/>
            <a:ext cx="63500" cy="63500"/>
          </a:xfrm>
          <a:prstGeom prst="rect">
            <a:avLst/>
          </a:prstGeom>
          <a:solidFill>
            <a:srgbClr val="F47F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376672" y="2788920"/>
            <a:ext cx="587044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300" b="0">
                <a:solidFill>
                  <a:srgbClr val="51454A"/>
                </a:solidFill>
                <a:latin typeface="Jost"/>
              </a:rPr>
              <a:t>The day's bookings first, with the current time marked on the list.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120640" y="3506724"/>
            <a:ext cx="63500" cy="63500"/>
          </a:xfrm>
          <a:prstGeom prst="rect">
            <a:avLst/>
          </a:prstGeom>
          <a:solidFill>
            <a:srgbClr val="F47F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76672" y="3429000"/>
            <a:ext cx="587044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300" b="0">
                <a:solidFill>
                  <a:srgbClr val="51454A"/>
                </a:solidFill>
                <a:latin typeface="Jost"/>
              </a:rPr>
              <a:t>Confirmed, done, pending and no-shows counted as you read.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120640" y="4146804"/>
            <a:ext cx="63500" cy="63500"/>
          </a:xfrm>
          <a:prstGeom prst="rect">
            <a:avLst/>
          </a:prstGeom>
          <a:solidFill>
            <a:srgbClr val="F47F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376672" y="4069080"/>
            <a:ext cx="587044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300" b="0">
                <a:solidFill>
                  <a:srgbClr val="51454A"/>
                </a:solidFill>
                <a:latin typeface="Jost"/>
              </a:rPr>
              <a:t>Changes to a booking status take effect immediately, no refresh.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120640" y="4786884"/>
            <a:ext cx="63500" cy="63500"/>
          </a:xfrm>
          <a:prstGeom prst="rect">
            <a:avLst/>
          </a:prstGeom>
          <a:solidFill>
            <a:srgbClr val="F47F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76672" y="4709160"/>
            <a:ext cx="587044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300" b="0">
                <a:solidFill>
                  <a:srgbClr val="51454A"/>
                </a:solidFill>
                <a:latin typeface="Jost"/>
              </a:rPr>
              <a:t>A payment mix of one method is shown as one method, not dressed up as a trend.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120640" y="5440680"/>
            <a:ext cx="6126480" cy="685800"/>
          </a:xfrm>
          <a:prstGeom prst="rect">
            <a:avLst/>
          </a:prstGeom>
          <a:solidFill>
            <a:srgbClr val="FF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94960" y="5596128"/>
            <a:ext cx="5577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3B2430"/>
                </a:solidFill>
                <a:latin typeface="Jost"/>
              </a:rPr>
              <a:t>Gross profit here is revenue less the cost of goods only. It is not what is left after payroll. The screen says so.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7240" y="6144768"/>
            <a:ext cx="10637215" cy="9525"/>
          </a:xfrm>
          <a:prstGeom prst="rect">
            <a:avLst/>
          </a:prstGeom>
          <a:solidFill>
            <a:srgbClr val="FCE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629107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8A7B81"/>
                </a:solidFill>
                <a:latin typeface="Jost"/>
              </a:rPr>
              <a:t>IRISH AESTHETICS AND BEAUTY LOUNGE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71255" y="6291072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8A7B81"/>
                </a:solidFill>
                <a:latin typeface="Jost"/>
              </a:rPr>
              <a:t>irish.deskpulse.click</a:t>
            </a:r>
          </a:p>
        </p:txBody>
      </p:sp>
      <p:pic>
        <p:nvPicPr>
          <p:cNvPr id="21" name="Picture 20" descr="frog-fai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9543" y="6281928"/>
            <a:ext cx="290779" cy="23774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D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" y="635508"/>
            <a:ext cx="256032" cy="31750"/>
          </a:xfrm>
          <a:prstGeom prst="rect">
            <a:avLst/>
          </a:prstGeom>
          <a:solidFill>
            <a:srgbClr val="C9A4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61288" y="56692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>
                <a:solidFill>
                  <a:srgbClr val="D9577F"/>
                </a:solidFill>
                <a:latin typeface="Jost"/>
              </a:rPr>
              <a:t>POINT OF SALE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133856"/>
            <a:ext cx="1063721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0">
                <a:solidFill>
                  <a:srgbClr val="3B2430"/>
                </a:solidFill>
                <a:latin typeface="Bodoni Moda"/>
              </a:rPr>
              <a:t>The sale is already a sale.</a:t>
            </a:r>
          </a:p>
        </p:txBody>
      </p:sp>
      <p:sp>
        <p:nvSpPr>
          <p:cNvPr id="5" name="Rectangle 4"/>
          <p:cNvSpPr/>
          <p:nvPr/>
        </p:nvSpPr>
        <p:spPr>
          <a:xfrm>
            <a:off x="2172160" y="1889760"/>
            <a:ext cx="3016599" cy="3444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6DB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24-admin-pos-sa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8360" y="1965960"/>
            <a:ext cx="2864199" cy="32918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766560" y="2057400"/>
            <a:ext cx="4572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51454A"/>
                </a:solidFill>
                <a:latin typeface="Jost"/>
              </a:rPr>
              <a:t>Treatments and retail on one screen, priced by the system, not by whoever is on the till.</a:t>
            </a:r>
          </a:p>
        </p:txBody>
      </p:sp>
      <p:sp>
        <p:nvSpPr>
          <p:cNvPr id="8" name="Rectangle 7"/>
          <p:cNvSpPr/>
          <p:nvPr/>
        </p:nvSpPr>
        <p:spPr>
          <a:xfrm>
            <a:off x="6766560" y="2820924"/>
            <a:ext cx="63500" cy="63500"/>
          </a:xfrm>
          <a:prstGeom prst="rect">
            <a:avLst/>
          </a:prstGeom>
          <a:solidFill>
            <a:srgbClr val="F47F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22592" y="2743200"/>
            <a:ext cx="4315968" cy="621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>
                <a:solidFill>
                  <a:srgbClr val="51454A"/>
                </a:solidFill>
                <a:latin typeface="Jost"/>
              </a:rPr>
              <a:t>Cash, card, bank transfer, GCash and Maya, with change given for cash only.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766560" y="3442716"/>
            <a:ext cx="63500" cy="63500"/>
          </a:xfrm>
          <a:prstGeom prst="rect">
            <a:avLst/>
          </a:prstGeom>
          <a:solidFill>
            <a:srgbClr val="F47F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22592" y="3364992"/>
            <a:ext cx="4315968" cy="621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>
                <a:solidFill>
                  <a:srgbClr val="51454A"/>
                </a:solidFill>
                <a:latin typeface="Jost"/>
              </a:rPr>
              <a:t>A deposit leaves the balance open, so the front desk can chase it.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766560" y="4064508"/>
            <a:ext cx="63500" cy="63500"/>
          </a:xfrm>
          <a:prstGeom prst="rect">
            <a:avLst/>
          </a:prstGeom>
          <a:solidFill>
            <a:srgbClr val="F47F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022592" y="3986784"/>
            <a:ext cx="4315968" cy="621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>
                <a:solidFill>
                  <a:srgbClr val="51454A"/>
                </a:solidFill>
                <a:latin typeface="Jost"/>
              </a:rPr>
              <a:t>Refunds return the stock and the money, and never exceed what was taken.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766560" y="4686300"/>
            <a:ext cx="63500" cy="63500"/>
          </a:xfrm>
          <a:prstGeom prst="rect">
            <a:avLst/>
          </a:prstGeom>
          <a:solidFill>
            <a:srgbClr val="F47F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022592" y="4608576"/>
            <a:ext cx="4315968" cy="621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>
                <a:solidFill>
                  <a:srgbClr val="51454A"/>
                </a:solidFill>
                <a:latin typeface="Jost"/>
              </a:rPr>
              <a:t>A printable receipt per sale, with the client's details on it.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766560" y="5440680"/>
            <a:ext cx="4572000" cy="640080"/>
          </a:xfrm>
          <a:prstGeom prst="rect">
            <a:avLst/>
          </a:prstGeom>
          <a:solidFill>
            <a:srgbClr val="3B24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040880" y="5586984"/>
            <a:ext cx="4023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>
                <a:solidFill>
                  <a:srgbClr val="FFFDFC"/>
                </a:solidFill>
                <a:latin typeface="Jost"/>
              </a:rPr>
              <a:t>A cashier cannot change a price. The catalogue decides.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7240" y="6144768"/>
            <a:ext cx="10637215" cy="9525"/>
          </a:xfrm>
          <a:prstGeom prst="rect">
            <a:avLst/>
          </a:prstGeom>
          <a:solidFill>
            <a:srgbClr val="FCE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629107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8A7B81"/>
                </a:solidFill>
                <a:latin typeface="Jost"/>
              </a:rPr>
              <a:t>IRISH AESTHETICS AND BEAUTY LOUNGE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71255" y="6291072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8A7B81"/>
                </a:solidFill>
                <a:latin typeface="Jost"/>
              </a:rPr>
              <a:t>irish.deskpulse.click</a:t>
            </a:r>
          </a:p>
        </p:txBody>
      </p:sp>
      <p:pic>
        <p:nvPicPr>
          <p:cNvPr id="21" name="Picture 20" descr="frog-fai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9543" y="6281928"/>
            <a:ext cx="290779" cy="23774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D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" y="635508"/>
            <a:ext cx="256032" cy="31750"/>
          </a:xfrm>
          <a:prstGeom prst="rect">
            <a:avLst/>
          </a:prstGeom>
          <a:solidFill>
            <a:srgbClr val="C9A4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61288" y="56692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>
                <a:solidFill>
                  <a:srgbClr val="D9577F"/>
                </a:solidFill>
                <a:latin typeface="Jost"/>
              </a:rPr>
              <a:t>INVENTORY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133856"/>
            <a:ext cx="1063721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0">
                <a:solidFill>
                  <a:srgbClr val="3B2430"/>
                </a:solidFill>
                <a:latin typeface="Bodoni Moda"/>
              </a:rPr>
              <a:t>Know what is on the shelf, per branch.</a:t>
            </a:r>
          </a:p>
        </p:txBody>
      </p:sp>
      <p:sp>
        <p:nvSpPr>
          <p:cNvPr id="5" name="Rectangle 4"/>
          <p:cNvSpPr/>
          <p:nvPr/>
        </p:nvSpPr>
        <p:spPr>
          <a:xfrm>
            <a:off x="1990749" y="1889760"/>
            <a:ext cx="3150822" cy="3352799"/>
          </a:xfrm>
          <a:prstGeom prst="rect">
            <a:avLst/>
          </a:prstGeom>
          <a:solidFill>
            <a:srgbClr val="FFFFFF"/>
          </a:solidFill>
          <a:ln w="12700">
            <a:solidFill>
              <a:srgbClr val="E6DB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25-admin-invento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6949" y="1965960"/>
            <a:ext cx="2998422" cy="320039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766560" y="2057400"/>
            <a:ext cx="4572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51454A"/>
                </a:solidFill>
                <a:latin typeface="Jost"/>
              </a:rPr>
              <a:t>Batches and expiry dates are the record. The count is kept in step with them.</a:t>
            </a:r>
          </a:p>
        </p:txBody>
      </p:sp>
      <p:sp>
        <p:nvSpPr>
          <p:cNvPr id="8" name="Rectangle 7"/>
          <p:cNvSpPr/>
          <p:nvPr/>
        </p:nvSpPr>
        <p:spPr>
          <a:xfrm>
            <a:off x="6766560" y="2820924"/>
            <a:ext cx="63500" cy="63500"/>
          </a:xfrm>
          <a:prstGeom prst="rect">
            <a:avLst/>
          </a:prstGeom>
          <a:solidFill>
            <a:srgbClr val="F47F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22592" y="2743200"/>
            <a:ext cx="4315968" cy="621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>
                <a:solidFill>
                  <a:srgbClr val="51454A"/>
                </a:solidFill>
                <a:latin typeface="Jost"/>
              </a:rPr>
              <a:t>Soonest expiry is used first, automatically.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766560" y="3442716"/>
            <a:ext cx="63500" cy="63500"/>
          </a:xfrm>
          <a:prstGeom prst="rect">
            <a:avLst/>
          </a:prstGeom>
          <a:solidFill>
            <a:srgbClr val="F47F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22592" y="3364992"/>
            <a:ext cx="4315968" cy="621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>
                <a:solidFill>
                  <a:srgbClr val="51454A"/>
                </a:solidFill>
                <a:latin typeface="Jost"/>
              </a:rPr>
              <a:t>Expired, expiring soon, low and out are flagged before they cost you.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766560" y="4064508"/>
            <a:ext cx="63500" cy="63500"/>
          </a:xfrm>
          <a:prstGeom prst="rect">
            <a:avLst/>
          </a:prstGeom>
          <a:solidFill>
            <a:srgbClr val="F47F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022592" y="3986784"/>
            <a:ext cx="4315968" cy="621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>
                <a:solidFill>
                  <a:srgbClr val="51454A"/>
                </a:solidFill>
                <a:latin typeface="Jost"/>
              </a:rPr>
              <a:t>Stock valued at cost, per branch, not one blended total.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766560" y="4686300"/>
            <a:ext cx="63500" cy="63500"/>
          </a:xfrm>
          <a:prstGeom prst="rect">
            <a:avLst/>
          </a:prstGeom>
          <a:solidFill>
            <a:srgbClr val="F47F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022592" y="4608576"/>
            <a:ext cx="4315968" cy="621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>
                <a:solidFill>
                  <a:srgbClr val="51454A"/>
                </a:solidFill>
                <a:latin typeface="Jost"/>
              </a:rPr>
              <a:t>A sale cannot take the last unit while another till is selling it.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766560" y="5440680"/>
            <a:ext cx="4572000" cy="640080"/>
          </a:xfrm>
          <a:prstGeom prst="rect">
            <a:avLst/>
          </a:prstGeom>
          <a:solidFill>
            <a:srgbClr val="FF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040880" y="5550408"/>
            <a:ext cx="4023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3B2430"/>
                </a:solidFill>
                <a:latin typeface="Jost"/>
              </a:rPr>
              <a:t>Every movement is a dated line, so a discrepancy has a name and a reason attached.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7240" y="6144768"/>
            <a:ext cx="10637215" cy="9525"/>
          </a:xfrm>
          <a:prstGeom prst="rect">
            <a:avLst/>
          </a:prstGeom>
          <a:solidFill>
            <a:srgbClr val="FCE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629107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8A7B81"/>
                </a:solidFill>
                <a:latin typeface="Jost"/>
              </a:rPr>
              <a:t>IRISH AESTHETICS AND BEAUTY LOUNGE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71255" y="6291072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8A7B81"/>
                </a:solidFill>
                <a:latin typeface="Jost"/>
              </a:rPr>
              <a:t>irish.deskpulse.click</a:t>
            </a:r>
          </a:p>
        </p:txBody>
      </p:sp>
      <p:pic>
        <p:nvPicPr>
          <p:cNvPr id="21" name="Picture 20" descr="frog-fai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9543" y="6281928"/>
            <a:ext cx="290779" cy="23774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D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" y="635508"/>
            <a:ext cx="256032" cy="31750"/>
          </a:xfrm>
          <a:prstGeom prst="rect">
            <a:avLst/>
          </a:prstGeom>
          <a:solidFill>
            <a:srgbClr val="C9A4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61288" y="56692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>
                <a:solidFill>
                  <a:srgbClr val="D9577F"/>
                </a:solidFill>
                <a:latin typeface="Jost"/>
              </a:rPr>
              <a:t>PEOPLE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133856"/>
            <a:ext cx="1063721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0">
                <a:solidFill>
                  <a:srgbClr val="3B2430"/>
                </a:solidFill>
                <a:latin typeface="Bodoni Moda"/>
              </a:rPr>
              <a:t>Your team's month, worked out for you.</a:t>
            </a:r>
          </a:p>
        </p:txBody>
      </p:sp>
      <p:sp>
        <p:nvSpPr>
          <p:cNvPr id="5" name="Rectangle 4"/>
          <p:cNvSpPr/>
          <p:nvPr/>
        </p:nvSpPr>
        <p:spPr>
          <a:xfrm>
            <a:off x="1706453" y="1889760"/>
            <a:ext cx="3536534" cy="266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6DB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26-admin-h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2653" y="1965960"/>
            <a:ext cx="3384134" cy="25146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758940" y="1889760"/>
            <a:ext cx="4175760" cy="266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6DB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27-admin-payrol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35140" y="1965960"/>
            <a:ext cx="4023360" cy="251460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777240" y="4832604"/>
            <a:ext cx="63500" cy="63500"/>
          </a:xfrm>
          <a:prstGeom prst="rect">
            <a:avLst/>
          </a:prstGeom>
          <a:solidFill>
            <a:srgbClr val="F47F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4754880"/>
            <a:ext cx="10351008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>
                <a:solidFill>
                  <a:srgbClr val="51454A"/>
                </a:solidFill>
                <a:latin typeface="Jost"/>
              </a:rPr>
              <a:t>Attendance, leave and the schedule in one place per person.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5161788"/>
            <a:ext cx="63500" cy="63500"/>
          </a:xfrm>
          <a:prstGeom prst="rect">
            <a:avLst/>
          </a:prstGeom>
          <a:solidFill>
            <a:srgbClr val="F47F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5084064"/>
            <a:ext cx="10351008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>
                <a:solidFill>
                  <a:srgbClr val="51454A"/>
                </a:solidFill>
                <a:latin typeface="Jost"/>
              </a:rPr>
              <a:t>Payroll built from the rates you set, with SSS, PhilHealth and Pag-IBIG handled as configured.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5490972"/>
            <a:ext cx="63500" cy="63500"/>
          </a:xfrm>
          <a:prstGeom prst="rect">
            <a:avLst/>
          </a:prstGeom>
          <a:solidFill>
            <a:srgbClr val="F47F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33272" y="5413248"/>
            <a:ext cx="10351008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>
                <a:solidFill>
                  <a:srgbClr val="51454A"/>
                </a:solidFill>
                <a:latin typeface="Jost"/>
              </a:rPr>
              <a:t>Loans and one-off deductions carried against a run until cleared, so nothing is retyped twice.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240" y="5820156"/>
            <a:ext cx="63500" cy="63500"/>
          </a:xfrm>
          <a:prstGeom prst="rect">
            <a:avLst/>
          </a:prstGeom>
          <a:solidFill>
            <a:srgbClr val="F47F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33272" y="5742432"/>
            <a:ext cx="10351008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>
                <a:solidFill>
                  <a:srgbClr val="51454A"/>
                </a:solidFill>
                <a:latin typeface="Jost"/>
              </a:rPr>
              <a:t>Payroll posts to the books, so the wage is already an entry by the time you look.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6144768"/>
            <a:ext cx="10637215" cy="9525"/>
          </a:xfrm>
          <a:prstGeom prst="rect">
            <a:avLst/>
          </a:prstGeom>
          <a:solidFill>
            <a:srgbClr val="FCE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629107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8A7B81"/>
                </a:solidFill>
                <a:latin typeface="Jost"/>
              </a:rPr>
              <a:t>IRISH AESTHETICS AND BEAUTY LOUNGE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71255" y="6291072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8A7B81"/>
                </a:solidFill>
                <a:latin typeface="Jost"/>
              </a:rPr>
              <a:t>irish.deskpulse.click</a:t>
            </a:r>
          </a:p>
        </p:txBody>
      </p:sp>
      <p:pic>
        <p:nvPicPr>
          <p:cNvPr id="20" name="Picture 19" descr="frog-fai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9543" y="6281928"/>
            <a:ext cx="290779" cy="237744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D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" y="635508"/>
            <a:ext cx="256032" cy="31750"/>
          </a:xfrm>
          <a:prstGeom prst="rect">
            <a:avLst/>
          </a:prstGeom>
          <a:solidFill>
            <a:srgbClr val="C9A4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61288" y="56692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>
                <a:solidFill>
                  <a:srgbClr val="D9577F"/>
                </a:solidFill>
                <a:latin typeface="Jost"/>
              </a:rPr>
              <a:t>ACCOUNTING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133856"/>
            <a:ext cx="1063721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0">
                <a:solidFill>
                  <a:srgbClr val="3B2430"/>
                </a:solidFill>
                <a:latin typeface="Bodoni Moda"/>
              </a:rPr>
              <a:t>The books close because they balance.</a:t>
            </a:r>
          </a:p>
        </p:txBody>
      </p:sp>
      <p:sp>
        <p:nvSpPr>
          <p:cNvPr id="5" name="Rectangle 4"/>
          <p:cNvSpPr/>
          <p:nvPr/>
        </p:nvSpPr>
        <p:spPr>
          <a:xfrm>
            <a:off x="920496" y="1889760"/>
            <a:ext cx="4834128" cy="3078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6DB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28b-admin-accounting-repor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6696" y="1965960"/>
            <a:ext cx="4681728" cy="29260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126480" y="2057400"/>
            <a:ext cx="5212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51454A"/>
                </a:solidFill>
                <a:latin typeface="Jost"/>
              </a:rPr>
              <a:t>Every sale, stock draw and payroll run writes its own balanced entry. Nothing is keyed twice.</a:t>
            </a:r>
          </a:p>
        </p:txBody>
      </p:sp>
      <p:sp>
        <p:nvSpPr>
          <p:cNvPr id="8" name="Rectangle 7"/>
          <p:cNvSpPr/>
          <p:nvPr/>
        </p:nvSpPr>
        <p:spPr>
          <a:xfrm>
            <a:off x="6126480" y="2820924"/>
            <a:ext cx="63500" cy="63500"/>
          </a:xfrm>
          <a:prstGeom prst="rect">
            <a:avLst/>
          </a:prstGeom>
          <a:solidFill>
            <a:srgbClr val="F47F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82512" y="2743200"/>
            <a:ext cx="4956048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>
                <a:solidFill>
                  <a:srgbClr val="51454A"/>
                </a:solidFill>
                <a:latin typeface="Jost"/>
              </a:rPr>
              <a:t>Trial balance, income statement and balance sheet, all from the same journal.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26480" y="3424428"/>
            <a:ext cx="63500" cy="63500"/>
          </a:xfrm>
          <a:prstGeom prst="rect">
            <a:avLst/>
          </a:prstGeom>
          <a:solidFill>
            <a:srgbClr val="F47F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82512" y="3346704"/>
            <a:ext cx="4956048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>
                <a:solidFill>
                  <a:srgbClr val="51454A"/>
                </a:solidFill>
                <a:latin typeface="Jost"/>
              </a:rPr>
              <a:t>An entry that does not balance is refused before it is saved.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26480" y="4027932"/>
            <a:ext cx="63500" cy="63500"/>
          </a:xfrm>
          <a:prstGeom prst="rect">
            <a:avLst/>
          </a:prstGeom>
          <a:solidFill>
            <a:srgbClr val="F47F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82512" y="3950208"/>
            <a:ext cx="4956048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>
                <a:solidFill>
                  <a:srgbClr val="51454A"/>
                </a:solidFill>
                <a:latin typeface="Jost"/>
              </a:rPr>
              <a:t>A closed month cannot be posted into until you reopen it.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26480" y="4631436"/>
            <a:ext cx="63500" cy="63500"/>
          </a:xfrm>
          <a:prstGeom prst="rect">
            <a:avLst/>
          </a:prstGeom>
          <a:solidFill>
            <a:srgbClr val="F47F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82512" y="4553712"/>
            <a:ext cx="4956048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>
                <a:solidFill>
                  <a:srgbClr val="51454A"/>
                </a:solidFill>
                <a:latin typeface="Jost"/>
              </a:rPr>
              <a:t>A wrong entry is voided with a reason, never quietly edited.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26480" y="5349240"/>
            <a:ext cx="5212080" cy="777240"/>
          </a:xfrm>
          <a:prstGeom prst="rect">
            <a:avLst/>
          </a:prstGeom>
          <a:solidFill>
            <a:srgbClr val="3B24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5513832"/>
            <a:ext cx="46634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FFFDFC"/>
                </a:solidFill>
                <a:latin typeface="Jost"/>
              </a:rPr>
              <a:t>If the books do not balance, the screen says so in plain words instead of showing you a tidy table.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7240" y="6144768"/>
            <a:ext cx="10637215" cy="9525"/>
          </a:xfrm>
          <a:prstGeom prst="rect">
            <a:avLst/>
          </a:prstGeom>
          <a:solidFill>
            <a:srgbClr val="FCE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629107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8A7B81"/>
                </a:solidFill>
                <a:latin typeface="Jost"/>
              </a:rPr>
              <a:t>IRISH AESTHETICS AND BEAUTY LOUNGE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71255" y="6291072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8A7B81"/>
                </a:solidFill>
                <a:latin typeface="Jost"/>
              </a:rPr>
              <a:t>irish.deskpulse.click</a:t>
            </a:r>
          </a:p>
        </p:txBody>
      </p:sp>
      <p:pic>
        <p:nvPicPr>
          <p:cNvPr id="21" name="Picture 20" descr="frog-fai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9543" y="6281928"/>
            <a:ext cx="290779" cy="237744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B24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" y="635508"/>
            <a:ext cx="256032" cy="31750"/>
          </a:xfrm>
          <a:prstGeom prst="rect">
            <a:avLst/>
          </a:prstGeom>
          <a:solidFill>
            <a:srgbClr val="C9A4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61288" y="56692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>
                <a:solidFill>
                  <a:srgbClr val="C9A46C"/>
                </a:solidFill>
                <a:latin typeface="Jost"/>
              </a:rPr>
              <a:t>CONTROL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133856"/>
            <a:ext cx="1063721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0">
                <a:solidFill>
                  <a:srgbClr val="FFFDFC"/>
                </a:solidFill>
                <a:latin typeface="Bodoni Moda"/>
              </a:rPr>
              <a:t>Your receptionist does not need to see your margin.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2011680"/>
            <a:ext cx="146304" cy="2743200"/>
          </a:xfrm>
          <a:prstGeom prst="rect">
            <a:avLst/>
          </a:prstGeom>
          <a:solidFill>
            <a:srgbClr val="F47F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011680"/>
            <a:ext cx="502920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2000"/>
              </a:lnSpc>
            </a:pPr>
            <a:r>
              <a:rPr sz="1600" b="0">
                <a:solidFill>
                  <a:srgbClr val="FFFDFC"/>
                </a:solidFill>
                <a:latin typeface="Jost"/>
              </a:rPr>
              <a:t>Access is granted by role, screen by screen. A cashier works the till. A branch manager moves stock. A payroll officer runs pay. The owner's books stay with the owner.</a:t>
            </a:r>
          </a:p>
        </p:txBody>
      </p:sp>
      <p:sp>
        <p:nvSpPr>
          <p:cNvPr id="7" name="Rectangle 6"/>
          <p:cNvSpPr/>
          <p:nvPr/>
        </p:nvSpPr>
        <p:spPr>
          <a:xfrm>
            <a:off x="1234440" y="4055363"/>
            <a:ext cx="63500" cy="63500"/>
          </a:xfrm>
          <a:prstGeom prst="rect">
            <a:avLst/>
          </a:prstGeom>
          <a:solidFill>
            <a:srgbClr val="C9A4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90472" y="3977639"/>
            <a:ext cx="4864608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300" b="0">
                <a:solidFill>
                  <a:srgbClr val="D9C7CE"/>
                </a:solidFill>
                <a:latin typeface="Jost"/>
              </a:rPr>
              <a:t>Every sensitive action is written to an audit trail with who and when.</a:t>
            </a:r>
          </a:p>
        </p:txBody>
      </p:sp>
      <p:sp>
        <p:nvSpPr>
          <p:cNvPr id="9" name="Rectangle 8"/>
          <p:cNvSpPr/>
          <p:nvPr/>
        </p:nvSpPr>
        <p:spPr>
          <a:xfrm>
            <a:off x="1234440" y="4713731"/>
            <a:ext cx="63500" cy="63500"/>
          </a:xfrm>
          <a:prstGeom prst="rect">
            <a:avLst/>
          </a:prstGeom>
          <a:solidFill>
            <a:srgbClr val="C9A4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90472" y="4636007"/>
            <a:ext cx="4864608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300" b="0">
                <a:solidFill>
                  <a:srgbClr val="D9C7CE"/>
                </a:solidFill>
                <a:latin typeface="Jost"/>
              </a:rPr>
              <a:t>Health information is kept out of the marketing records entirely.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234440" y="5372099"/>
            <a:ext cx="63500" cy="63500"/>
          </a:xfrm>
          <a:prstGeom prst="rect">
            <a:avLst/>
          </a:prstGeom>
          <a:solidFill>
            <a:srgbClr val="C9A4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490472" y="5294375"/>
            <a:ext cx="4864608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300" b="0">
                <a:solidFill>
                  <a:srgbClr val="D9C7CE"/>
                </a:solidFill>
                <a:latin typeface="Jost"/>
              </a:rPr>
              <a:t>Consent is captured at the point of enquiry and visible on the record.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103120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C9A46C"/>
                </a:solidFill>
                <a:latin typeface="Jost"/>
              </a:rPr>
              <a:t>WHO SEES WHAT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92240" y="2606040"/>
            <a:ext cx="31750" cy="402336"/>
          </a:xfrm>
          <a:prstGeom prst="rect">
            <a:avLst/>
          </a:prstGeom>
          <a:solidFill>
            <a:srgbClr val="F47F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20840" y="2606040"/>
            <a:ext cx="1600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>
                <a:solidFill>
                  <a:srgbClr val="FFFDFC"/>
                </a:solidFill>
                <a:latin typeface="Jost"/>
              </a:rPr>
              <a:t>Reception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66760" y="2624328"/>
            <a:ext cx="3017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B09CA5"/>
                </a:solidFill>
                <a:latin typeface="Jost"/>
              </a:rPr>
              <a:t>Bookings and enquiries. No takings, no payroll.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92240" y="3172968"/>
            <a:ext cx="31750" cy="402336"/>
          </a:xfrm>
          <a:prstGeom prst="rect">
            <a:avLst/>
          </a:prstGeom>
          <a:solidFill>
            <a:srgbClr val="F47F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720840" y="3172968"/>
            <a:ext cx="1600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>
                <a:solidFill>
                  <a:srgbClr val="FFFDFC"/>
                </a:solidFill>
                <a:latin typeface="Jost"/>
              </a:rPr>
              <a:t>Cashier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66760" y="3191256"/>
            <a:ext cx="3017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B09CA5"/>
                </a:solidFill>
                <a:latin typeface="Jost"/>
              </a:rPr>
              <a:t>The till, refunds and stock on hand.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92240" y="3739896"/>
            <a:ext cx="31750" cy="402336"/>
          </a:xfrm>
          <a:prstGeom prst="rect">
            <a:avLst/>
          </a:prstGeom>
          <a:solidFill>
            <a:srgbClr val="F47F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20840" y="3739896"/>
            <a:ext cx="1600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>
                <a:solidFill>
                  <a:srgbClr val="FFFDFC"/>
                </a:solidFill>
                <a:latin typeface="Jost"/>
              </a:rPr>
              <a:t>Branch manager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66760" y="3758184"/>
            <a:ext cx="3017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B09CA5"/>
                </a:solidFill>
                <a:latin typeface="Jost"/>
              </a:rPr>
              <a:t>Adjustments, transfers, the branch's numbers.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92240" y="4306824"/>
            <a:ext cx="31750" cy="402336"/>
          </a:xfrm>
          <a:prstGeom prst="rect">
            <a:avLst/>
          </a:prstGeom>
          <a:solidFill>
            <a:srgbClr val="F47F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720840" y="4306824"/>
            <a:ext cx="1600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>
                <a:solidFill>
                  <a:srgbClr val="FFFDFC"/>
                </a:solidFill>
                <a:latin typeface="Jost"/>
              </a:rPr>
              <a:t>Payroll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66760" y="4325112"/>
            <a:ext cx="3017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B09CA5"/>
                </a:solidFill>
                <a:latin typeface="Jost"/>
              </a:rPr>
              <a:t>Runs and payslips. Not the revenue report.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92240" y="4873752"/>
            <a:ext cx="31750" cy="402336"/>
          </a:xfrm>
          <a:prstGeom prst="rect">
            <a:avLst/>
          </a:prstGeom>
          <a:solidFill>
            <a:srgbClr val="F47F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720840" y="4873752"/>
            <a:ext cx="1600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>
                <a:solidFill>
                  <a:srgbClr val="FFFDFC"/>
                </a:solidFill>
                <a:latin typeface="Jost"/>
              </a:rPr>
              <a:t>Owner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66760" y="4892040"/>
            <a:ext cx="3017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B09CA5"/>
                </a:solidFill>
                <a:latin typeface="Jost"/>
              </a:rPr>
              <a:t>Everything, including the trial balance.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92240" y="5623560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8A7B81"/>
                </a:solidFill>
                <a:latin typeface="Jost"/>
              </a:rPr>
              <a:t>Role names are yours to set. This is the default shape.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D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" y="635508"/>
            <a:ext cx="256032" cy="31750"/>
          </a:xfrm>
          <a:prstGeom prst="rect">
            <a:avLst/>
          </a:prstGeom>
          <a:solidFill>
            <a:srgbClr val="C9A4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61288" y="56692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>
                <a:solidFill>
                  <a:srgbClr val="D9577F"/>
                </a:solidFill>
                <a:latin typeface="Jost"/>
              </a:rPr>
              <a:t>STRAIGHT WITH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133856"/>
            <a:ext cx="1063721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0">
                <a:solidFill>
                  <a:srgbClr val="3B2430"/>
                </a:solidFill>
                <a:latin typeface="Bodoni Moda"/>
              </a:rPr>
              <a:t>What this system does not do.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965960"/>
            <a:ext cx="106070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6DB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965960"/>
            <a:ext cx="38100" cy="658368"/>
          </a:xfrm>
          <a:prstGeom prst="rect">
            <a:avLst/>
          </a:prstGeom>
          <a:solidFill>
            <a:srgbClr val="C9A4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2066544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3B2430"/>
                </a:solidFill>
                <a:latin typeface="Jost"/>
              </a:rPr>
              <a:t>It makes no medical claims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166360" y="2084832"/>
            <a:ext cx="6035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150" b="0">
                <a:solidFill>
                  <a:srgbClr val="51454A"/>
                </a:solidFill>
                <a:latin typeface="Jost"/>
              </a:rPr>
              <a:t>No guaranteed results, no safety promises. It manages a clinic; it does not treat one.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2697480"/>
            <a:ext cx="106070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6DB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2697480"/>
            <a:ext cx="38100" cy="658368"/>
          </a:xfrm>
          <a:prstGeom prst="rect">
            <a:avLst/>
          </a:prstGeom>
          <a:solidFill>
            <a:srgbClr val="C9A4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2798064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3B2430"/>
                </a:solidFill>
                <a:latin typeface="Jost"/>
              </a:rPr>
              <a:t>It is not a bookkeeping certificate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66360" y="2816352"/>
            <a:ext cx="6035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150" b="0">
                <a:solidFill>
                  <a:srgbClr val="51454A"/>
                </a:solidFill>
                <a:latin typeface="Jost"/>
              </a:rPr>
              <a:t>We will not call it BIR compliant. It keeps clean books; your accountant signs them.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3429000"/>
            <a:ext cx="106070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6DB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77240" y="3429000"/>
            <a:ext cx="38100" cy="658368"/>
          </a:xfrm>
          <a:prstGeom prst="rect">
            <a:avLst/>
          </a:prstGeom>
          <a:solidFill>
            <a:srgbClr val="C9A4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51560" y="3529584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3B2430"/>
                </a:solidFill>
                <a:latin typeface="Jost"/>
              </a:rPr>
              <a:t>It does not replace your bookkeeper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66360" y="3547872"/>
            <a:ext cx="6035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150" b="0">
                <a:solidFill>
                  <a:srgbClr val="51454A"/>
                </a:solidFill>
                <a:latin typeface="Jost"/>
              </a:rPr>
              <a:t>It produces the ledger and the statements. A professional reviews and files them.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160520"/>
            <a:ext cx="106070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6DB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160520"/>
            <a:ext cx="38100" cy="658368"/>
          </a:xfrm>
          <a:prstGeom prst="rect">
            <a:avLst/>
          </a:prstGeom>
          <a:solidFill>
            <a:srgbClr val="C9A4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51560" y="4261104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3B2430"/>
                </a:solidFill>
                <a:latin typeface="Jost"/>
              </a:rPr>
              <a:t>The demo data is not your revenue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66360" y="4279392"/>
            <a:ext cx="6035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150" b="0">
                <a:solidFill>
                  <a:srgbClr val="51454A"/>
                </a:solidFill>
                <a:latin typeface="Jost"/>
              </a:rPr>
              <a:t>Figures in this deck come from a seeded demo clinic, not from a real clinic.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77240" y="4892040"/>
            <a:ext cx="106070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6DB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77240" y="4892040"/>
            <a:ext cx="38100" cy="658368"/>
          </a:xfrm>
          <a:prstGeom prst="rect">
            <a:avLst/>
          </a:prstGeom>
          <a:solidFill>
            <a:srgbClr val="C9A4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51560" y="4992624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3B2430"/>
                </a:solidFill>
                <a:latin typeface="Jost"/>
              </a:rPr>
              <a:t>Before and after images are illustrations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66360" y="5010912"/>
            <a:ext cx="6035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150" b="0">
                <a:solidFill>
                  <a:srgbClr val="51454A"/>
                </a:solidFill>
                <a:latin typeface="Jost"/>
              </a:rPr>
              <a:t>Stock photography. They are not patient results and are labelled as such.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57150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A83257"/>
                </a:solidFill>
                <a:latin typeface="Jost"/>
              </a:rPr>
              <a:t>We would rather lose the sale than win it with a claim you cannot defend.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77240" y="6144768"/>
            <a:ext cx="10637215" cy="9525"/>
          </a:xfrm>
          <a:prstGeom prst="rect">
            <a:avLst/>
          </a:prstGeom>
          <a:solidFill>
            <a:srgbClr val="FCE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7240" y="629107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8A7B81"/>
                </a:solidFill>
                <a:latin typeface="Jost"/>
              </a:rPr>
              <a:t>IRISH AESTHETICS AND BEAUTY LOUNGE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71255" y="6291072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8A7B81"/>
                </a:solidFill>
                <a:latin typeface="Jost"/>
              </a:rPr>
              <a:t>irish.deskpulse.click</a:t>
            </a:r>
          </a:p>
        </p:txBody>
      </p:sp>
      <p:pic>
        <p:nvPicPr>
          <p:cNvPr id="29" name="Picture 28" descr="frog-fai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9543" y="6281928"/>
            <a:ext cx="290779" cy="237744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D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" y="635508"/>
            <a:ext cx="256032" cy="31750"/>
          </a:xfrm>
          <a:prstGeom prst="rect">
            <a:avLst/>
          </a:prstGeom>
          <a:solidFill>
            <a:srgbClr val="C9A4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61288" y="56692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>
                <a:solidFill>
                  <a:srgbClr val="D9577F"/>
                </a:solidFill>
                <a:latin typeface="Jost"/>
              </a:rPr>
              <a:t>IS THIS YOU?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133856"/>
            <a:ext cx="1063721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0">
                <a:solidFill>
                  <a:srgbClr val="3B2430"/>
                </a:solidFill>
                <a:latin typeface="Bodoni Moda"/>
              </a:rPr>
              <a:t>This fits if three of these are true today.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2226564"/>
            <a:ext cx="63500" cy="63500"/>
          </a:xfrm>
          <a:prstGeom prst="rect">
            <a:avLst/>
          </a:prstGeom>
          <a:solidFill>
            <a:srgbClr val="F47F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33272" y="2148840"/>
            <a:ext cx="5138928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450" b="0">
                <a:solidFill>
                  <a:srgbClr val="51454A"/>
                </a:solidFill>
                <a:latin typeface="Jost"/>
              </a:rPr>
              <a:t>You have more than one branch, or plan to.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2976372"/>
            <a:ext cx="63500" cy="63500"/>
          </a:xfrm>
          <a:prstGeom prst="rect">
            <a:avLst/>
          </a:prstGeom>
          <a:solidFill>
            <a:srgbClr val="F47F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33272" y="2898648"/>
            <a:ext cx="5138928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450" b="0">
                <a:solidFill>
                  <a:srgbClr val="51454A"/>
                </a:solidFill>
                <a:latin typeface="Jost"/>
              </a:rPr>
              <a:t>You sell treatments and retail from the same counter.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3726180"/>
            <a:ext cx="63500" cy="63500"/>
          </a:xfrm>
          <a:prstGeom prst="rect">
            <a:avLst/>
          </a:prstGeom>
          <a:solidFill>
            <a:srgbClr val="F47F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3648456"/>
            <a:ext cx="5138928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450" b="0">
                <a:solidFill>
                  <a:srgbClr val="51454A"/>
                </a:solidFill>
                <a:latin typeface="Jost"/>
              </a:rPr>
              <a:t>You want the owner, the receptionist and the accountant seeing one set of numbers.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4475988"/>
            <a:ext cx="63500" cy="63500"/>
          </a:xfrm>
          <a:prstGeom prst="rect">
            <a:avLst/>
          </a:prstGeom>
          <a:solidFill>
            <a:srgbClr val="F47F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4398264"/>
            <a:ext cx="5138928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450" b="0">
                <a:solidFill>
                  <a:srgbClr val="51454A"/>
                </a:solidFill>
                <a:latin typeface="Jost"/>
              </a:rPr>
              <a:t>You are tired of exporting to a spreadsheet to find out how the month went.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5225796"/>
            <a:ext cx="63500" cy="63500"/>
          </a:xfrm>
          <a:prstGeom prst="rect">
            <a:avLst/>
          </a:prstGeom>
          <a:solidFill>
            <a:srgbClr val="F47F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33272" y="5148072"/>
            <a:ext cx="5138928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450" b="0">
                <a:solidFill>
                  <a:srgbClr val="51454A"/>
                </a:solidFill>
                <a:latin typeface="Jost"/>
              </a:rPr>
              <a:t>You want to add a location without buying a second system.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675120" y="2148840"/>
            <a:ext cx="4617720" cy="3566160"/>
          </a:xfrm>
          <a:prstGeom prst="rect">
            <a:avLst/>
          </a:prstGeom>
          <a:solidFill>
            <a:srgbClr val="FF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995160" y="2468880"/>
            <a:ext cx="4023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D9577F"/>
                </a:solidFill>
                <a:latin typeface="Jost"/>
              </a:rPr>
              <a:t>AND IT DOES NOT FIT IF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995160" y="3049524"/>
            <a:ext cx="63500" cy="63500"/>
          </a:xfrm>
          <a:prstGeom prst="rect">
            <a:avLst/>
          </a:prstGeom>
          <a:solidFill>
            <a:srgbClr val="F47F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251192" y="2971800"/>
            <a:ext cx="3767328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>
                <a:solidFill>
                  <a:srgbClr val="51454A"/>
                </a:solidFill>
                <a:latin typeface="Jost"/>
              </a:rPr>
              <a:t>You want a website and nothing else.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995160" y="3890772"/>
            <a:ext cx="63500" cy="63500"/>
          </a:xfrm>
          <a:prstGeom prst="rect">
            <a:avLst/>
          </a:prstGeom>
          <a:solidFill>
            <a:srgbClr val="F47F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51192" y="3813048"/>
            <a:ext cx="3767328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>
                <a:solidFill>
                  <a:srgbClr val="51454A"/>
                </a:solidFill>
                <a:latin typeface="Jost"/>
              </a:rPr>
              <a:t>Clinical notes are the priority. This is the clinic around them, not the chart.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995160" y="4732020"/>
            <a:ext cx="63500" cy="63500"/>
          </a:xfrm>
          <a:prstGeom prst="rect">
            <a:avLst/>
          </a:prstGeom>
          <a:solidFill>
            <a:srgbClr val="F47F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251192" y="4654296"/>
            <a:ext cx="3767328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>
                <a:solidFill>
                  <a:srgbClr val="51454A"/>
                </a:solidFill>
                <a:latin typeface="Jost"/>
              </a:rPr>
              <a:t>You need it working offline in a rural branch today.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5870448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8A7B81"/>
                </a:solidFill>
                <a:latin typeface="Jost"/>
              </a:rPr>
              <a:t>Better to say this now than after you have paid for it.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77240" y="6144768"/>
            <a:ext cx="10637215" cy="9525"/>
          </a:xfrm>
          <a:prstGeom prst="rect">
            <a:avLst/>
          </a:prstGeom>
          <a:solidFill>
            <a:srgbClr val="FCE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7240" y="629107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8A7B81"/>
                </a:solidFill>
                <a:latin typeface="Jost"/>
              </a:rPr>
              <a:t>IRISH AESTHETICS AND BEAUTY LOUNGE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71255" y="6291072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8A7B81"/>
                </a:solidFill>
                <a:latin typeface="Jost"/>
              </a:rPr>
              <a:t>irish.deskpulse.click</a:t>
            </a:r>
          </a:p>
        </p:txBody>
      </p:sp>
      <p:pic>
        <p:nvPicPr>
          <p:cNvPr id="27" name="Picture 26" descr="frog-fai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9543" y="6281928"/>
            <a:ext cx="290779" cy="237744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B24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F47F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91440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C9A46C"/>
                </a:solidFill>
                <a:latin typeface="Jost"/>
              </a:rPr>
              <a:t>WHERE THIS GOES NEXT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371600"/>
            <a:ext cx="96012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0">
                <a:solidFill>
                  <a:srgbClr val="FFFDFC"/>
                </a:solidFill>
                <a:latin typeface="Bodoni Moda"/>
              </a:rPr>
              <a:t>Bring your own numbers.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8686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>
                <a:solidFill>
                  <a:srgbClr val="D9C7CE"/>
                </a:solidFill>
                <a:latin typeface="Jost"/>
              </a:rPr>
              <a:t>The demo runs on a fictional clinic. The fastest way to judge this is to load your real treatments, prices and staff, then look at your own month on it.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3337560"/>
            <a:ext cx="5120640" cy="1005840"/>
          </a:xfrm>
          <a:prstGeom prst="rect">
            <a:avLst/>
          </a:prstGeom>
          <a:solidFill>
            <a:srgbClr val="4A2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3538728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C9A46C"/>
                </a:solidFill>
                <a:latin typeface="Bodoni Moda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3502152"/>
            <a:ext cx="4114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FFFDFC"/>
                </a:solidFill>
                <a:latin typeface="Jost"/>
              </a:rPr>
              <a:t>See it running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3849624"/>
            <a:ext cx="4114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B09CA5"/>
                </a:solidFill>
                <a:latin typeface="Jost"/>
              </a:rPr>
              <a:t>A walkthrough on your own branch data. Half an hour, no slides.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3337560"/>
            <a:ext cx="5120640" cy="1005840"/>
          </a:xfrm>
          <a:prstGeom prst="rect">
            <a:avLst/>
          </a:prstGeom>
          <a:solidFill>
            <a:srgbClr val="4A2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3538728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C9A46C"/>
                </a:solidFill>
                <a:latin typeface="Bodoni Moda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95160" y="3502152"/>
            <a:ext cx="4114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FFFDFC"/>
                </a:solidFill>
                <a:latin typeface="Jost"/>
              </a:rPr>
              <a:t>Load your catalogue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3849624"/>
            <a:ext cx="4114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B09CA5"/>
                </a:solidFill>
                <a:latin typeface="Jost"/>
              </a:rPr>
              <a:t>Treatments, prices, doctors and stock imported, then checked by you.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" y="4544568"/>
            <a:ext cx="5120640" cy="1005840"/>
          </a:xfrm>
          <a:prstGeom prst="rect">
            <a:avLst/>
          </a:prstGeom>
          <a:solidFill>
            <a:srgbClr val="4A2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51560" y="4745736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C9A46C"/>
                </a:solidFill>
                <a:latin typeface="Bodoni Moda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54480" y="4709160"/>
            <a:ext cx="4114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FFFDFC"/>
                </a:solidFill>
                <a:latin typeface="Jost"/>
              </a:rPr>
              <a:t>Run one month alongside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54480" y="5056632"/>
            <a:ext cx="4114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B09CA5"/>
                </a:solidFill>
                <a:latin typeface="Jost"/>
              </a:rPr>
              <a:t>Keep your current process live while this settles in.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17920" y="4544568"/>
            <a:ext cx="5120640" cy="1005840"/>
          </a:xfrm>
          <a:prstGeom prst="rect">
            <a:avLst/>
          </a:prstGeom>
          <a:solidFill>
            <a:srgbClr val="4A2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40" y="4745736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C9A46C"/>
                </a:solidFill>
                <a:latin typeface="Bodoni Moda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95160" y="4709160"/>
            <a:ext cx="4114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FFFDFC"/>
                </a:solidFill>
                <a:latin typeface="Jost"/>
              </a:rPr>
              <a:t>Then decide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95160" y="5056632"/>
            <a:ext cx="4114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B09CA5"/>
                </a:solidFill>
                <a:latin typeface="Jost"/>
              </a:rPr>
              <a:t>If it has not earned its place by month two, that is a fair reason to stop.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5989320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9A8890"/>
                </a:solidFill>
                <a:latin typeface="Jost"/>
              </a:rPr>
              <a:t>Live demo: irish.deskpulse.click   ·   28 Amorsolo Street, Legaspi Village, Makati City</a:t>
            </a:r>
          </a:p>
        </p:txBody>
      </p:sp>
      <p:pic>
        <p:nvPicPr>
          <p:cNvPr id="23" name="Picture 22" descr="recursivefrog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00000" y="5888736"/>
            <a:ext cx="514455" cy="420624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9116920" y="5956035"/>
            <a:ext cx="1600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B09CA5"/>
                </a:solidFill>
                <a:latin typeface="Jost"/>
              </a:rPr>
              <a:t>BUILT BY RECURSIVE FROG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